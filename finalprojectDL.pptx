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6B6A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6B6A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5C7F"/>
              </a:solidFill>
              <a:effectLst/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1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ResNet-18
(transfer)</c:v>
                </c:pt>
                <c:pt idx="1">
                  <c:v>Baseline CNN</c:v>
                </c:pt>
                <c:pt idx="2">
                  <c:v>Baseline + aug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92.6</c:v>
                </c:pt>
                <c:pt idx="1">
                  <c:v>84.6</c:v>
                </c:pt>
                <c:pt idx="2">
                  <c:v>81.8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1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5e4459f-db52-4b3c-b6d5-93cb706dd003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2000" y="295804"/>
            <a:ext cx="8100000" cy="594000"/>
          </a:xfrm>
        </p:spPr>
        <p:txBody>
          <a:bodyPr/>
          <a:lstStyle>
            <a:lvl1pPr algn="ct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C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Классификация природных сцен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с нуля</a:t>
            </a:r>
            <a:r>
              <a:rPr lang="en-US" sz="20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vs  </a:t>
            </a:r>
            <a:r>
              <a:rPr lang="en-US" sz="2000" b="1" dirty="0">
                <a:solidFill>
                  <a:srgbClr val="06B6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Learning (ResNet-18)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— финальный проект  •  уровень C+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FC0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Автор: </a:t>
            </a:r>
            <a:r>
              <a:rPr lang="" altLang="en-US" sz="1300" dirty="0">
                <a:solidFill>
                  <a:srgbClr val="AFC0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Мырзабек Асанали</a:t>
            </a:r>
            <a:endParaRPr lang="" altLang="en-US" sz="1300" dirty="0">
              <a:solidFill>
                <a:srgbClr val="AFC0D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8A8D91"/>
          </a:solidFill>
        </p:spPr>
      </p:sp>
      <p:sp>
        <p:nvSpPr>
          <p:cNvPr id="6" name="Text 4"/>
          <p:cNvSpPr/>
          <p:nvPr/>
        </p:nvSpPr>
        <p:spPr>
          <a:xfrm>
            <a:off x="640080" y="4160520"/>
            <a:ext cx="1078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416052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2C7A4B"/>
          </a:solidFill>
        </p:spPr>
      </p:sp>
      <p:sp>
        <p:nvSpPr>
          <p:cNvPr id="8" name="Text 6"/>
          <p:cNvSpPr/>
          <p:nvPr/>
        </p:nvSpPr>
        <p:spPr>
          <a:xfrm>
            <a:off x="1828800" y="4160520"/>
            <a:ext cx="1078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416052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7FB5C9"/>
          </a:solidFill>
        </p:spPr>
      </p:sp>
      <p:sp>
        <p:nvSpPr>
          <p:cNvPr id="10" name="Text 8"/>
          <p:cNvSpPr/>
          <p:nvPr/>
        </p:nvSpPr>
        <p:spPr>
          <a:xfrm>
            <a:off x="3017520" y="4160520"/>
            <a:ext cx="1078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glacier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416052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5B6B7B"/>
          </a:solidFill>
        </p:spPr>
      </p:sp>
      <p:sp>
        <p:nvSpPr>
          <p:cNvPr id="12" name="Text 10"/>
          <p:cNvSpPr/>
          <p:nvPr/>
        </p:nvSpPr>
        <p:spPr>
          <a:xfrm>
            <a:off x="4206240" y="4160520"/>
            <a:ext cx="1078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mountain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416052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</p:spPr>
      </p:sp>
      <p:sp>
        <p:nvSpPr>
          <p:cNvPr id="14" name="Text 12"/>
          <p:cNvSpPr/>
          <p:nvPr/>
        </p:nvSpPr>
        <p:spPr>
          <a:xfrm>
            <a:off x="5394960" y="4160520"/>
            <a:ext cx="1078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416052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B79268"/>
          </a:solidFill>
        </p:spPr>
      </p:sp>
      <p:sp>
        <p:nvSpPr>
          <p:cNvPr id="16" name="Text 14"/>
          <p:cNvSpPr/>
          <p:nvPr/>
        </p:nvSpPr>
        <p:spPr>
          <a:xfrm>
            <a:off x="6583680" y="4160520"/>
            <a:ext cx="1078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Задача и данные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38404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Задача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 фото определить одну из 6 категорий сцены.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Зачем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Организация фото, поиск, тегирование. Плюс вопрос: насколько transfer learning лучше сети «с нуля».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0" y="118872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EEF3F6"/>
          </a:solidFill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0" y="13258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5C7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~14k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0" y="1938528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89320" y="118872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EEF3F6"/>
          </a:solidFill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89320" y="13258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5C7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~3k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89320" y="1938528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images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118872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EEF3F6"/>
          </a:solidFill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13258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5C7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06640" y="1938528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6060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Датасет: Intel Image Classification (Kaggle)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20624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8A8D91"/>
          </a:solidFill>
        </p:spPr>
      </p:sp>
      <p:sp>
        <p:nvSpPr>
          <p:cNvPr id="15" name="Text 13"/>
          <p:cNvSpPr/>
          <p:nvPr/>
        </p:nvSpPr>
        <p:spPr>
          <a:xfrm>
            <a:off x="868680" y="4206240"/>
            <a:ext cx="1078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57400" y="420624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2C7A4B"/>
          </a:solidFill>
        </p:spPr>
      </p:sp>
      <p:sp>
        <p:nvSpPr>
          <p:cNvPr id="17" name="Text 15"/>
          <p:cNvSpPr/>
          <p:nvPr/>
        </p:nvSpPr>
        <p:spPr>
          <a:xfrm>
            <a:off x="2057400" y="4206240"/>
            <a:ext cx="1078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420624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7FB5C9"/>
          </a:solidFill>
        </p:spPr>
      </p:sp>
      <p:sp>
        <p:nvSpPr>
          <p:cNvPr id="19" name="Text 17"/>
          <p:cNvSpPr/>
          <p:nvPr/>
        </p:nvSpPr>
        <p:spPr>
          <a:xfrm>
            <a:off x="3246120" y="4206240"/>
            <a:ext cx="1078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glacier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420624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5B6B7B"/>
          </a:solidFill>
        </p:spPr>
      </p:sp>
      <p:sp>
        <p:nvSpPr>
          <p:cNvPr id="21" name="Text 19"/>
          <p:cNvSpPr/>
          <p:nvPr/>
        </p:nvSpPr>
        <p:spPr>
          <a:xfrm>
            <a:off x="4434840" y="4206240"/>
            <a:ext cx="1078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mountain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23560" y="420624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</p:spPr>
      </p:sp>
      <p:sp>
        <p:nvSpPr>
          <p:cNvPr id="23" name="Text 21"/>
          <p:cNvSpPr/>
          <p:nvPr/>
        </p:nvSpPr>
        <p:spPr>
          <a:xfrm>
            <a:off x="5623560" y="4206240"/>
            <a:ext cx="1078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420624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B79268"/>
          </a:solidFill>
        </p:spPr>
      </p:sp>
      <p:sp>
        <p:nvSpPr>
          <p:cNvPr id="25" name="Text 23"/>
          <p:cNvSpPr/>
          <p:nvPr/>
        </p:nvSpPr>
        <p:spPr>
          <a:xfrm>
            <a:off x="6812280" y="4206240"/>
            <a:ext cx="1078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Подход: три модели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34440"/>
            <a:ext cx="2651760" cy="109728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5" name="Text 3"/>
          <p:cNvSpPr/>
          <p:nvPr/>
        </p:nvSpPr>
        <p:spPr>
          <a:xfrm>
            <a:off x="731520" y="15087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1. Baseline CNN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Своя свёрточная сеть с нуля: 3 блока Conv-ReLU-MaxPool + полносвязные слои.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29000" y="12344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1234440"/>
            <a:ext cx="2651760" cy="109728"/>
          </a:xfrm>
          <a:prstGeom prst="rect">
            <a:avLst/>
          </a:prstGeom>
          <a:solidFill>
            <a:srgbClr val="0E5C7F"/>
          </a:solidFill>
        </p:spPr>
      </p:sp>
      <p:sp>
        <p:nvSpPr>
          <p:cNvPr id="9" name="Text 7"/>
          <p:cNvSpPr/>
          <p:nvPr/>
        </p:nvSpPr>
        <p:spPr>
          <a:xfrm>
            <a:off x="3611880" y="15087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2. + Аугментация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214884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Та же CNN, но train-картинки случайно меняются (отражение, поворот, цвет).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2344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234440"/>
            <a:ext cx="2651760" cy="109728"/>
          </a:xfrm>
          <a:prstGeom prst="rect">
            <a:avLst/>
          </a:prstGeom>
          <a:solidFill>
            <a:srgbClr val="06B6A4"/>
          </a:solidFill>
        </p:spPr>
      </p:sp>
      <p:sp>
        <p:nvSpPr>
          <p:cNvPr id="13" name="Text 11"/>
          <p:cNvSpPr/>
          <p:nvPr/>
        </p:nvSpPr>
        <p:spPr>
          <a:xfrm>
            <a:off x="6492240" y="15087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3. ResNet-18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Предобученная на ImageNet сеть; меняем последний слой и дообучаем под 6 классов.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Честное сравнение: одинаковый split, аугментация только на train, тест не трогаем.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Результаты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63640" y="13716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0B2C45"/>
          </a:solidFill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263640" y="1554480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A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92.6%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263640" y="228600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ResNet-18 — лучший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(macro F1 = 0.928)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63640" y="3154680"/>
            <a:ext cx="251460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learning обгоняет CNN «с нуля» на ~8% и сходится за 5 эпох.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Что получилось: transfer learning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ResNet-18 устранил главные слабости baseline: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EEF3F6"/>
          </a:solidFill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 — recall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strike="sngStrike" dirty="0">
                <a:solidFill>
                  <a:srgbClr val="64748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0.73  </a:t>
            </a:r>
            <a:r>
              <a:rPr lang="en-US" sz="2600" dirty="0">
                <a:solidFill>
                  <a:srgbClr val="64748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  </a:t>
            </a:r>
            <a:r>
              <a:rPr lang="en-US" sz="2600" b="1" dirty="0">
                <a:solidFill>
                  <a:srgbClr val="06B6A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0.99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EEF3F6"/>
          </a:solidFill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7830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glacier — F1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2286000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strike="sngStrike" dirty="0">
                <a:solidFill>
                  <a:srgbClr val="64748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0.79  </a:t>
            </a:r>
            <a:r>
              <a:rPr lang="en-US" sz="2600" dirty="0">
                <a:solidFill>
                  <a:srgbClr val="64748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  </a:t>
            </a:r>
            <a:r>
              <a:rPr lang="en-US" sz="2600" b="1" dirty="0">
                <a:solidFill>
                  <a:srgbClr val="06B6A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0.88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EEF3F6"/>
          </a:solidFill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7830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общая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strike="sngStrike" dirty="0">
                <a:solidFill>
                  <a:srgbClr val="64748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84.6%  </a:t>
            </a:r>
            <a:r>
              <a:rPr lang="en-US" sz="2600" dirty="0">
                <a:solidFill>
                  <a:srgbClr val="64748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→  </a:t>
            </a:r>
            <a:r>
              <a:rPr lang="en-US" sz="2600" b="1" dirty="0">
                <a:solidFill>
                  <a:srgbClr val="06B6A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92.6%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Почему: </a:t>
            </a:r>
            <a:r>
              <a:rPr lang="en-US" sz="13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сеть переиспользует признаки, выученные на ImageNet (1.2 млн картинок), поэтому ей хватает 5 эпох и она лучше обобщает.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Честный результат и слабые места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EEF3F6"/>
          </a:solidFill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716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Аугментация НЕ помогла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47472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C049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84.6%  →  81.8%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Переобучение baseline было слабым, а за 10 эпох аугментированная модель недоучилась (train acc 0.84 → 0.82).</a:t>
            </a:r>
            <a:endParaRPr lang="en-US" sz="22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Разрыв train/val при этом уменьшился — регуляризация работает, просто не окупилась при коротком обучении.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EEF3F6"/>
          </a:solidFill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3716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Где модель ещё путает (221/3000)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92040" y="1874520"/>
            <a:ext cx="347472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glacier ↔ mountain</a:t>
            </a: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106 ошибок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street ↔ buildings</a:t>
            </a: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66 ошибок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Ошибки не случайны — это визуально близкие сцены (снег/скалы/небо; здания со стороны улицы).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C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Выводы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learning (ResNet-18) уверенно выиграл: 92.6% против 84.6%.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Аугментация не улучшила маленькую CNN — слабое переобучение + короткое обучение.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Главная сложность для всех моделей — визуально похожие сцены (glacier/mountain).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A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Что улучшить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Дольше обучать + early stopping  •  попробовать другие предобученные сети  •  подобрать силу аугментации.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2065</Words>
  <Application>WPS Presentation</Application>
  <PresentationFormat>On-screen Show (16:9)</PresentationFormat>
  <Paragraphs>119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Calibri</vt:lpstr>
      <vt:lpstr>Calibri</vt:lpstr>
      <vt:lpstr>Arial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Scene Image Classification</dc:title>
  <dc:creator>Deep Learning Final Project</dc:creator>
  <dc:subject>PptxGenJS Presentation</dc:subject>
  <cp:lastModifiedBy>Асанәлі Мырзабе�</cp:lastModifiedBy>
  <cp:revision>2</cp:revision>
  <dcterms:created xsi:type="dcterms:W3CDTF">2026-05-22T02:47:00Z</dcterms:created>
  <dcterms:modified xsi:type="dcterms:W3CDTF">2026-05-22T02:52:26Z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02D0E3E6CEE24022A11FE5748940CD89_13</vt:lpwstr>
  </property>
  <property fmtid="{D5CDD505-2E9C-101B-9397-08002B2CF9AE}" pid="3" name="KSOProductBuildVer">
    <vt:lpwstr>1049-12.2.0.23202</vt:lpwstr>
  </property>
</Properties>
</file>